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开场：各位老师好，我们是第八组，课题是主题 8.1 振动状态监测器。</a:t>
            </a:r>
          </a:p>
          <a:p>
            <a:r>
              <a:t>本次汇报我组四人依次发言，分别介绍项目背景与需求、方案设计、实现进度、测试验证与下一步计划。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说明分工：四个人各讲一部分，老师可以看到四人都参与了工作。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这一部分我讲背景：为什么做这件事、以及我们面对的三个约束——预算 150、不能焊接、要能被复制。最后我们实际花了 119.5 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需求这一页讲三层：功能 11 条、非功能 9 条、验收 13 条。重点是验收标准全部可量化，这为后面的测试提供了依据。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架构分三层。最重要的一句话是：判定在边缘完成，不传原始波形。这既省带宽，也让系统在断网时仍能工作。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这一页是技术设计的核心——不是「我们选了什么」，而是「为什么选它、为什么不选别的」。老师看的就是这个权衡过程。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这一页讲两个「为什么」：为什么 1 kHz / 1024 点，为什么 RMS 必须带限。带限那条是我们实测出来的——全带算出来的 RMS 是带限的 10 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硬件这页看两张照片：左边是整个系统，右边是传感器怎么固定在风扇上。强调零焊接——所有模块买来就是焊好排针的。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固件我们写了 11 个，不是一次写成的。每个新模块先单独验证再集成——这是我们的工程习惯，也确实帮我们快速定位过几次问题。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这张截图是真实报警时的界面。趋势图上那个台阶就是加配重的瞬间，这是最有说服力的一张图。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进度方面可以说得自信一点：六项里五项已完成，报告在写。系统现在就能现场演示。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这是第一个测试：传感器准不准。振动有四项，温度有三项，都给了具体数字和判据。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不平衡实验：加蓝丁胶配重，从 0 到 0.35 到 0.70 克。图上能看到 1× 处峰值一路抬高，而且谐波同步抬升——这是不平衡的指纹。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这页是我们最想讲的一点：两类故障的特征是反的。只装振动传感器的话，堵塞会让振动变小，系统反而以为变好了。这就是为什么要两路传感器。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这页讲我们踩过的一个坑。我们先怀疑是传感器胶松了，重新贴没用；后来改成按风扇底座才找到真因。教训是：按压传感器会同时改变两个变量。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最后讲计划：本周写报告，下周定稿和彩排。答辩当天我们会做现场演示，五步走，约 2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结束。如果老师问细节，仓库里都有，可以现场打开看。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3327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8C4E8"/>
                </a:solidFill>
                <a:latin typeface="Microsoft YaHei"/>
                <a:ea typeface="Microsoft YaHei"/>
                <a:cs typeface="Microsoft YaHei"/>
              </a:rPr>
              <a:t>工业评估 · Smart Campus Living Lab · 2026/27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3327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主题 8.1  振动状态监测器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103327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A8C4E8"/>
                </a:solidFill>
                <a:latin typeface="Microsoft YaHei"/>
                <a:ea typeface="Microsoft YaHei"/>
                <a:cs typeface="Microsoft YaHei"/>
              </a:rPr>
              <a:t>中期答辩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92040"/>
            <a:ext cx="1033272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小组成员：成员 A ／ 成员 B ／ 成员 C ／ 成员 D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A8C4E8"/>
                </a:solidFill>
                <a:latin typeface="Microsoft YaHei"/>
                <a:ea typeface="Microsoft YaHei"/>
                <a:cs typeface="Microsoft YaHei"/>
              </a:rPr>
              <a:t>答辩日期：2026 年 11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33172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第一部分 · 成员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37744"/>
            <a:ext cx="8778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汇报分工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79575"/>
          <a:ext cx="1069847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726"/>
                <a:gridCol w="6633057"/>
                <a:gridCol w="2139696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主讲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第一部分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项目背景与需求分析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 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第二部分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方案设计与技术选型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 B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第三部分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实现进度（硬件/固件/服务端）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 C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第四部分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测试验证、关键发现与下一步计划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 D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160520"/>
            <a:ext cx="1069848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汇报顺序与时间分配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每人约 3 分钟，合计约 12 分钟，留 3 分钟答疑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每个部分由一个成员主讲，其余成员负责该部分的实验与资料准备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演示环节由成员 C 操作设备，成员 D 讲解数据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33172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第一部分 · 成员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37744"/>
            <a:ext cx="8778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选题背景：为什么要做振动监测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33856"/>
            <a:ext cx="5760720" cy="3840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旋转机械的常见故障</a:t>
            </a:r>
          </a:p>
          <a:p>
            <a:pPr algn="l" lvl="1">
              <a:spcAft>
                <a:spcPts val="8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风机、水泵、电机等设备，故障多由转子不平衡、轴承磨损、地脚松动引起</a:t>
            </a:r>
          </a:p>
          <a:p>
            <a:pPr algn="l" lvl="1">
              <a:spcAft>
                <a:spcPts val="8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这些故障在早期都会表现为振动特征的变化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传统做法的问题</a:t>
            </a:r>
          </a:p>
          <a:p>
            <a:pPr algn="l" lvl="1">
              <a:spcAft>
                <a:spcPts val="8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定期人工巡检：依赖经验，间隔期内故障可能突发</a:t>
            </a:r>
          </a:p>
          <a:p>
            <a:pPr algn="l" lvl="1">
              <a:spcAft>
                <a:spcPts val="8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事后维修：故障发生后才处理，停机损失大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状态监测的价值</a:t>
            </a:r>
          </a:p>
          <a:p>
            <a:pPr algn="l" lvl="1">
              <a:spcAft>
                <a:spcPts val="8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在故障早期发现征兆，把「事后维修」变为「预测性维护」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6812280" y="1179575"/>
            <a:ext cx="4663440" cy="3566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362455"/>
            <a:ext cx="4206240" cy="320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本课题的约束条件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预算 ≤ ¥150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零焊接（无焊接条件，全部选用已焊针模块）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只用公开可得的器件与免费软件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结果需可复现、可被 LICHPU 复制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378A3E"/>
                </a:solidFill>
                <a:latin typeface="Microsoft YaHei"/>
                <a:ea typeface="Microsoft YaHei"/>
                <a:cs typeface="Microsoft YaHei"/>
              </a:rPr>
              <a:t>实测结果：总支出 ¥119.50，结余 ¥30.50（19.7%）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33172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第一部分 · 成员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37744"/>
            <a:ext cx="8778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需求规格：功能、非功能与验收标准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79575"/>
            <a:ext cx="3456432" cy="2880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79575"/>
            <a:ext cx="345643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335024"/>
            <a:ext cx="30632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11 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11095"/>
            <a:ext cx="3063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功能需求 FR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40863"/>
            <a:ext cx="3063240" cy="1600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振动采集与特征提取、温度监测、本地存储、联网上报、实时显示、历史查询、三级报警、维修建议、参数配置、断网续传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2544" y="1179575"/>
            <a:ext cx="3456432" cy="2880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2544" y="1179575"/>
            <a:ext cx="3456432" cy="7315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335024"/>
            <a:ext cx="30632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E44AD"/>
                </a:solidFill>
                <a:latin typeface="Microsoft YaHei"/>
                <a:ea typeface="Microsoft YaHei"/>
                <a:cs typeface="Microsoft YaHei"/>
              </a:rPr>
              <a:t>9 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911095"/>
            <a:ext cx="3063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非功能需求 NFR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340863"/>
            <a:ext cx="3063240" cy="1600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成本 ≤ ¥150、零焊接、采样率 ≥ 1 kHz、无线上报、可用性、可维护性、数据不丢失、电气安全、可复制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73567" y="1179575"/>
            <a:ext cx="3456432" cy="2880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73567" y="1179575"/>
            <a:ext cx="3456432" cy="73152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1335024"/>
            <a:ext cx="30632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8A8A"/>
                </a:solidFill>
                <a:latin typeface="Microsoft YaHei"/>
                <a:ea typeface="Microsoft YaHei"/>
                <a:cs typeface="Microsoft YaHei"/>
              </a:rPr>
              <a:t>13 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1911095"/>
            <a:ext cx="3063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验收标准 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2340863"/>
            <a:ext cx="3063240" cy="1600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每条均可量化验证：采样率误差 ≤ 0.5%、静止模长 1.000 ± 0.2 g、报警响应 ≤ 10 s、成本 ≤ ¥150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42816"/>
            <a:ext cx="106984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截至中期：13 条验收标准中，11 条已完全达成，2 条在收尾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已达成的关键指标：采样率误差 −0.03%（判据 ≤0.5%）、成本 ¥119.50（预算 ¥150）、报警响应 6 s（判据 ≤10 s）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331720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第二部分 · 成员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37744"/>
            <a:ext cx="8778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系统架构：三层结构，判定在边缘完成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79575"/>
            <a:ext cx="1600200" cy="868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79575"/>
            <a:ext cx="150876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传感层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179575"/>
            <a:ext cx="909828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1179575"/>
            <a:ext cx="877824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MPU6050（三轴加速度，I²C）＋ DS18B20（单总线温度）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03704"/>
            <a:ext cx="1600200" cy="8686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03704"/>
            <a:ext cx="150876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边缘层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2203704"/>
            <a:ext cx="909828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2203704"/>
            <a:ext cx="877824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ESP32：1 kSPS 采样 → FFT → 带限 RMS → 基线自学习 → 迟滞判定 → SD 本地存储 → MQTT 上报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27832"/>
            <a:ext cx="1600200" cy="868680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27832"/>
            <a:ext cx="150876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3227832"/>
            <a:ext cx="909828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600" y="3227832"/>
            <a:ext cx="877824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Node-RED：MQTT broker ＋ 仪表板（实时/趋势/历史）＋ SQLite 持久化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88536"/>
            <a:ext cx="10698480" cy="137160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407408"/>
            <a:ext cx="1033272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关键设计原则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所有特征提取与状态判定都在 ESP32 上完成，只上传特征值而不上传原始波形。这样带宽占用只有几十字节/条，断网时可本地缓存，采样与判定不受网络影响。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331720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第二部分 · 成员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37744"/>
            <a:ext cx="8778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关键选型：每个决策都有对比与理由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79575"/>
          <a:ext cx="10698479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1756"/>
                <a:gridCol w="3209544"/>
                <a:gridCol w="2139696"/>
                <a:gridCol w="3637483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决策点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备选方案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本方案选择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主要理由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振动传感器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压电式 / ADXL345 / MPU6050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MPU6050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成本低、I²C 简单、有已焊针版本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温度传感器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NTC / 热电偶 / DS18B20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DS18B20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数字输出免标定、单总线、防水探头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计算位置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云端处理 / 边缘处理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边缘处理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带宽、延迟、离线可用、隐私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上报协议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 / MQTT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MQTT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轻量、QoS、发布订阅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数据存储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云数据库 / SQLite / SD 卡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SQLite ＋ SD 卡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SQLite 零配置、SD 卡保证断电不丢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974336"/>
            <a:ext cx="1069848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选型的共同原则：在满足需求前提下优先选「零焊接、低门槛、易复现」的方案，以保证被 LICHPU 复制时不需要专业设备。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331720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第二部分 · 成员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37744"/>
            <a:ext cx="8778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信号处理设计：采样参数是如何定下来的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88136"/>
            <a:ext cx="557784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采样参数推导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关注频段 10~260 Hz → 按 Nyquist 取 fs = 1 kHz（4 倍余量）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N = 1024 → 频率分辨率 Δf = fs/N = 0.977 Hz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帧长 1.024 s，兼顾实时性与分辨率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量程 ±4 g（8192 LSB/g），兼顾分辨率与不平衡工况峰值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为什么必须「带限」计算 RMS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全带 RMS 会把桌面晃动、手持抖动（&lt;10 Hz）算进去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实测对比：全带 0.05 g vs 带限 0.005 g，相差 10 倍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做法：由单边幅度谱按 Parseval 定理求 Σ A²/2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133856"/>
            <a:ext cx="4892040" cy="4069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298448"/>
            <a:ext cx="4480560" cy="3749039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状态判定策略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基线自学习：开机采 15 帧，得 μ、σ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阈值：注意 = μ+3σ，报警 = μ+6σ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迟滞：升级需连续 3 帧确认，降级需 5 帧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基线下限保护：μ &lt; 0.010 g 时拒绝该基线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为什么用自学习而不是固定阈值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同一台设备在不同安装状态下的振动水平可差 3 倍以上，固定阈值必然误报或漏报。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331720" cy="384048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第三部分 · 成员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37744"/>
            <a:ext cx="8778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硬件实现：零焊接的完整样机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tup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030" y="1088136"/>
            <a:ext cx="2639298" cy="3520439"/>
          </a:xfrm>
          <a:prstGeom prst="rect">
            <a:avLst/>
          </a:prstGeom>
        </p:spPr>
      </p:pic>
      <p:pic>
        <p:nvPicPr>
          <p:cNvPr id="7" name="Picture 6" descr="mpu6050_mou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922" y="1088135"/>
            <a:ext cx="4695754" cy="3520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654296"/>
            <a:ext cx="49377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左图：整体装置（风扇＋传感器＋主控＋面包板）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4654296"/>
            <a:ext cx="56692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右图：振动传感器安装（胶带刚性固定于风扇外框）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084064"/>
            <a:ext cx="10835640" cy="56692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157216"/>
            <a:ext cx="10515600" cy="4389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378A3E"/>
                </a:solidFill>
                <a:latin typeface="Microsoft YaHei"/>
                <a:ea typeface="Microsoft YaHei"/>
                <a:cs typeface="Microsoft YaHei"/>
              </a:rPr>
              <a:t>全部模块选用已焊针版本，用面包板与杜邦线连接，全程无焊接——满足「零焊接」这一硬性约束。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331720" cy="384048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第三部分 · 成员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37744"/>
            <a:ext cx="8778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固件演进：11 个程序，逐个模块验证后再集成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52143"/>
          <a:ext cx="10698478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817"/>
                <a:gridCol w="4921300"/>
                <a:gridCol w="4493361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序号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固件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验证内容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01–04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点灯 / 扫 Wi-Fi / 连 Wi-Fi / 发 MQTT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工具链与网络链路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05–06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I²C 总线扫描 / MPU6050 自检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传感器是否存在、是否原厂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kHz 采样 + FFT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采样率精度、噪声底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08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台架测量（三轴选轴 + 带限 RMS）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能否测出风扇转频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完整节点（双传感 + SD + 上报）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系统集成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10–11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DS18B20 测试 / SD 卡诊断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新增模块单独验证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4700016"/>
            <a:ext cx="10698480" cy="105156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09744"/>
            <a:ext cx="1033272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工程方法：每接入一个新模块，先写单独的测试程序确认硬件可用，再并入主固件。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这样出问题时能立刻定位是「新模块坏了」还是「集成引入的 bug」。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331720" cy="384048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第三部分 · 成员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37744"/>
            <a:ext cx="8778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服务端与仪表板：现场报警实际效果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pt_crop_dashboard_live_al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8560"/>
            <a:ext cx="5669280" cy="29601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29400" y="1133856"/>
            <a:ext cx="4754880" cy="3840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仪表板实现的功能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实时：振动 RMS、被测体表面温度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三级状态：正常 / 注意 / 报警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维修建议：按状态给出处理建议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趋势：最近 1 小时 RMS 曲线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历史：SQLite 查询与曲线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截图说明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左图为加 0.35 g 配重后的真实报警状态：仪表盘变红、等级显示「报警」、建议「停机检查动平衡与轴承」，右侧趋势图记录了 RMS 由 0.06 陡升至 0.6 的阶跃。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331720" cy="384048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第三部分 · 成员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37744"/>
            <a:ext cx="8778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进度对照：主体功能已提前完成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79575"/>
          <a:ext cx="10698478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726"/>
                <a:gridCol w="1711756"/>
                <a:gridCol w="2139696"/>
                <a:gridCol w="49213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原计划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实际状态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需求与方案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2–3 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提案 17 页、实施方案 25 页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硬件搭建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4–5 周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三模块全部接入，零焊接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固件开发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6–8 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个固件，含 FFT、判定、存储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系统集成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9–10 周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MQTT 全链路 + 仪表板 + 数据库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测试与实验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11 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已完成主要部分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不平衡三级、堵塞三级、温度标定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报告与答辩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12 周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进行中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报告大纲已完成，正文撰写中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4745736"/>
            <a:ext cx="10698480" cy="10058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37176"/>
            <a:ext cx="103327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78A3E"/>
                </a:solidFill>
                <a:latin typeface="Microsoft YaHei"/>
                <a:ea typeface="Microsoft YaHei"/>
                <a:cs typeface="Microsoft YaHei"/>
              </a:rPr>
              <a:t>整体进度约提前 2 周：系统已可完整运行并演示，剩余工作集中在报告与细节打磨。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331720" cy="38404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第四部分 · 成员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37744"/>
            <a:ext cx="8778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测试一：两路传感器的标定与验证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52143"/>
          <a:ext cx="10698478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848"/>
                <a:gridCol w="1711756"/>
                <a:gridCol w="3209544"/>
                <a:gridCol w="2781604"/>
                <a:gridCol w="1925726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通道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判据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振动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器件真伪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 WHO_AM_I 原始寄存器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0x68（原厂）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= 0x68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振动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重力模长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静止读取三轴合成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0.991 ~ 1.002 g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 ± 0.2 g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振动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噪声底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1024 点 × 多帧，带限 RMS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0.0053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振动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采样率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实测帧时长反算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999.7 Hz（−0.03%）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 ≤ 0.5%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稳定性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静置 90 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噪声 &lt; 1 LSB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响应性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手指捏住探头 30 s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+3.25 ℃，τ ≈ 25–30 s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明显响应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恢复性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松手 100 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−4.50 ℃，无迟滞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可逆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654296"/>
            <a:ext cx="106984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两条实测结论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① 采样率误差 −0.03%，比判据要求好 16 倍 —— 表明 micros() 定时与 I²C 时序可靠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② 温度时间常数 τ ≈ 30 s，意味着温度报警必须设分钟级确认延时，否则手碰一下就会误报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331720" cy="38404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第四部分 · 成员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37744"/>
            <a:ext cx="8778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测试二：转子不平衡工况（三级）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pectra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8843"/>
            <a:ext cx="6675120" cy="244754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06640" y="1152143"/>
          <a:ext cx="402335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008"/>
                <a:gridCol w="1528876"/>
                <a:gridCol w="1287475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配重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带内 RMS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1× 峰值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0.0574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0.0292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0.35 g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1.4723 g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1.6605 g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0.70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2.6816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2.8015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2825496"/>
            <a:ext cx="4023360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0.35 g（转子质量 0.4%）使 RMS 上升 25.7 倍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谐波系列（1×/3×/4×/7×）同步抬升，是不平衡的典型谱特征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由 232 Hz 叶片通过频率反推叶片数为 7，与实物一致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88536"/>
            <a:ext cx="66751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左：三工况频谱对比（蓝=正常，橙=0.35 g，绿=0.70 g）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331720" cy="38404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第四部分 · 成员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37744"/>
            <a:ext cx="8778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测试三：风道堵塞工况 —— 双通道的价值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52143"/>
          <a:ext cx="10698477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1756"/>
                <a:gridCol w="2353665"/>
                <a:gridCol w="2353665"/>
                <a:gridCol w="2353665"/>
                <a:gridCol w="1925726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工况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振动 RMS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1× 峰值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转频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正常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24.05 ℃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0.0867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0.0773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34.5 Hz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遮挡 50%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24.67 ℃（+0.62）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0.0589 g（−32%）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0.0487 g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34.2 Hz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遮挡 80%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24.85 ℃（+0.80）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0.0605 g（−30%）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0.0242 g（−69%）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31.5 Hz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2825496"/>
            <a:ext cx="512064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单调性检验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78A3E"/>
                </a:solidFill>
                <a:latin typeface="Microsoft YaHei"/>
                <a:ea typeface="Microsoft YaHei"/>
                <a:cs typeface="Microsoft YaHei"/>
              </a:rPr>
              <a:t>温度：单调上升 ✔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78A3E"/>
                </a:solidFill>
                <a:latin typeface="Microsoft YaHei"/>
                <a:ea typeface="Microsoft YaHei"/>
                <a:cs typeface="Microsoft YaHei"/>
              </a:rPr>
              <a:t>1× 峰值：单调下降 ✔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78A3E"/>
                </a:solidFill>
                <a:latin typeface="Microsoft YaHei"/>
                <a:ea typeface="Microsoft YaHei"/>
                <a:cs typeface="Microsoft YaHei"/>
              </a:rPr>
              <a:t>转频：单调下降 ✔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振动 RMS：非单调 ✘（50% 与 80% 几乎相同）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825496"/>
            <a:ext cx="5349240" cy="233172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962656"/>
            <a:ext cx="4937760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两类故障的特征方向相反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转子不平衡：温度不变、振动 ↑↑（20~65 倍）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风道堵塞：温度 ↑、1× ↓、转频 ↓、振动 ↓ 32%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如果只有振动传感器，堵塞会让振动下降 32%，系统会误判为「设备状态改善」，故障被完全掩盖。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331720" cy="38404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第四部分 · 成员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37744"/>
            <a:ext cx="8778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关键发现与局限：一次误判带来的经验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33856"/>
            <a:ext cx="5120640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发现：支撑刚度的影响达 3.7 倍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同一台风扇、同一转速，振动 RMS 出现 0.055 g 与 0.207 g 两种水平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第一次判断错误：按压传感器使 RMS 下降 57%，误判为「传感器胶松了」；重新粘贴后反而升到 0.207 g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原因：按压传感器时同时给整个结构加了阻尼，两个变量混淆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第二次判断正确：改为按压风扇底座，RMS 降到 0.0556 g，与历史稳定值一致 → 是风扇整体在跳动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判别指标：1× 峰值 / 带内 RMS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固定良好 ≈ 1.0；风扇晃动 = 0.36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133856"/>
            <a:ext cx="5166360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271016"/>
            <a:ext cx="475488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当前局限（如实记录）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单一测点、单轴分析（三轴取最强）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无转速传感器，转频靠频谱推断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演示用小型风机对配重过于敏感，与工业机组可比性有限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3282696"/>
            <a:ext cx="5166360" cy="192024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3401568"/>
            <a:ext cx="4754880" cy="1691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这个发现的意义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传感器无法区分「设备自身结构振动」与「设备整体刚体运动」，工业标准要求振动测量必须相对于刚性基础，原因即在此。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331720" cy="38404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第四部分 · 成员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37744"/>
            <a:ext cx="8778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下一步计划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79575"/>
          <a:ext cx="10698478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1756"/>
                <a:gridCol w="5991148"/>
                <a:gridCol w="2995574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交付物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完成报告初稿（10 章，约 30 页）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报告初稿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下周上半周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补台账测试记录、整理图表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受控文档台账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下周下半周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报告定稿、答辩 PPT 与演示彩排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终稿 + 演示脚本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答辩前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现场演示彩排：正常 → 加配重 → 报警 → 历史查询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可运行样机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后续（若继续）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复合判据写入固件、多测点组网、误报率统计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4288536"/>
            <a:ext cx="10698480" cy="11887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332720" cy="1051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78A3E"/>
                </a:solidFill>
                <a:latin typeface="Microsoft YaHei"/>
                <a:ea typeface="Microsoft YaHei"/>
                <a:cs typeface="Microsoft YaHei"/>
              </a:rPr>
              <a:t>现场演示方案（答辩当天）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① 打开仪表板显示「正常」→ ② 现场加 0.35 g 配重 → ③ 约 6 秒后仪表盘变红、显示「报警」与维修建议 → ④ 切到历史页展示 SQLite 记录 → ⑤ 说明断网补发与 SD 本地存储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汇报完毕，谢谢各位老师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54680"/>
            <a:ext cx="103327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A8C4E8"/>
                </a:solidFill>
                <a:latin typeface="Microsoft YaHei"/>
                <a:ea typeface="Microsoft YaHei"/>
                <a:cs typeface="Microsoft YaHei"/>
              </a:rPr>
              <a:t>欢迎提问与批评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1033272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A8C4E8"/>
                </a:solidFill>
                <a:latin typeface="Microsoft YaHei"/>
                <a:ea typeface="Microsoft YaHei"/>
                <a:cs typeface="Microsoft YaHei"/>
              </a:rPr>
              <a:t>项目仓库：github.com/Zichuan-ALT/vibration-monitor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8C4E8"/>
                </a:solidFill>
                <a:latin typeface="Microsoft YaHei"/>
                <a:ea typeface="Microsoft YaHei"/>
                <a:cs typeface="Microsoft YaHei"/>
              </a:rPr>
              <a:t>代码、实验记录、原始数据与证据照片均已归档，可现场查阅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