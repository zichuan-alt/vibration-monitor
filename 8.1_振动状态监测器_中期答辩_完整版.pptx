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开场：今天汇报四部分，每人讲一段。第一部分是背景与需求，第二部分设计与信号处理，第三部分实现与服务端，第四部分测试与数据。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先说一下分工：四部分四个人讲，各约三分钟。演示环节由成员C 操作、成员D 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背景很简单：这类设备在坏之前，振动和温度先变。传统靠人听靠人摸，发现时往往已经晚了。所以要做一个小型的、能持续看的状态监测。右边是本课题的约束：零焊接、器件通用、两路以上数据、本地判定。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需求分三类：11 条功能、9 条非功能、13 条验收标准。验收标准全部可量化，比如采样率误差、静止模长、报警响应时间。中期看，13 条里 11 条已完全达成。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架构分三层。最要紧的一点是判定放在边缘端，只上传特征值。这样带宽省十分之九，断网也不影响监测。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五个决策点。共同原则是：接口简单、资料多、容易复现，而且全程零焊接。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三个参数的推导：采样率按 4 倍 Nyquist；帧长在分辨率与实时性之间折中；量程按实测峰值留余量。定时用绝对时刻对齐，这是精度来源。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这一页是信号处理里最关键的一处修正。直接用整段时域求 RMS，静止时居然有 0.05 g，跟手册差 10 倍。查下来是桌面在动。改成频域带限积分就对了。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阈值不写死。同一台风扇换个安装状态就差 3.7 倍。所以用自学习，并加了保护：学到的基线太小就拒绝，防止停机时学到错误基线。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左边是整个装置，右边是传感器怎么固定的。所有模块都是买来就焊好排针的，用杜邦线直插，全程没有焊接。传感器贴在外框边角，避开扇叶。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接口这一页。三组总线互不冲突。要特别提醒：SD 模块必须接 5 V，接 3.3 V 不工作。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固件讲三件事：主循环顺序、四个可靠性机制、降级设计。核心是「先测量后联网」。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三个真实遇到过的问题。第二个和第三个属于「文档与实现不一致」，经验是：关键判据要直读底层寄存器，第三方封装不能全信。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这是加配重之后的真实截图：表盘整圈变红、状态报警、给维修建议，右边趋势图能看到 RMS 由 0.06 陡升到 0.6 的阶跃。服务端只做展示和存储，不做判定。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标定分两路。振动做四项自洽检查，温度做稳定性、响应、恢复三项。重点是温度时间常数约 30 秒，这决定了温度报警不能用秒级迟滞。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不平衡三级工况，每档 6 到 7 帧。右边频谱三条曲线在 33 Hz 附近依次抬升，谐波同步上升——这是不平衡的典型谱特征。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堵塞的结论和直觉相反：越堵振动越小，因为气动激励减弱了。所以单看 RMS 会把劣化误判成「状态改善」。真正单调的是温度、1× 峰值、转频。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这一页是最有价值的发现，也是一次误判的记录。第一次按压传感器，结论指向「胶松了」，但重贴后反而更差。第二次改为按压底座才定位到真正原因：风扇在跳。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进度上整体提前两周，系统已经能跑能演示。剩下的是报告和打磨。下一步最要紧的是把温度做成复合判据，以及补电流通道。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演示五步，约四分钟。第二步是检查点，自学习没完成绝对不能加配重。下面写了三条失败备用方案。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收尾：系统已经能完整跑起来，两类故障能分开，四个人分工明确。仓库里代码、原始数据和证据都齐。谢谢，欢迎提问。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利莫瑞克大学 × LICHPU　工业评估（15 ECTS）· 智慧校园生活实验室 · 主题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 8.1　振动状态监测器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中期答辩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6070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四部分，由四位成员分别主讲：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第一部分　项目背景与需求　——　成员 A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第二部分　方案设计与信号处理　——　成员 B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8A8A"/>
                </a:solidFill>
                <a:latin typeface="Microsoft YaHei"/>
                <a:ea typeface="Microsoft YaHei"/>
                <a:cs typeface="Microsoft YaHei"/>
              </a:rPr>
              <a:t>第三部分　实现与服务端　——　成员 C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第四部分　测试与数据分析　——　成员 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56048"/>
            <a:ext cx="10515600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小组成员：成员 A ／ 成员 B ／ 成员 C ／ 成员 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答辩日期：2026 年 11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汇报分工与时间分配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每人约 3 分钟，合计约 12 分钟，留 3 分钟答疑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89888"/>
          <a:ext cx="1115567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124"/>
                <a:gridCol w="3792931"/>
                <a:gridCol w="1004011"/>
                <a:gridCol w="1784908"/>
                <a:gridCol w="3346703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页数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主讲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负责的实验与材料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项目背景、课题约束、需求规格、进度与下一步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用户调研、需求与验收标准、责任工程初筛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第二部分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系统架构、关键选型、采样与判定设计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页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B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架构设计、信号处理推导、判定策略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硬件搭建、接口、固件与服务端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器件接入、固件开发、MQTT 与仪表板联调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第四部分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传感器标定、两类故障实验、数据分析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页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D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标定、不平衡与堵塞工况、频谱分析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演示环节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现场演示加配重触发报警并查看历史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 C 操作、成员 D 讲解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答辩当天现场执行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47488"/>
            <a:ext cx="111556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每个部分都由对应成员主讲，其余成员负责该部分的实验与资料准备；答辩时的提问由主讲人先答，涉及具体数据时由负责该实验的成员补充。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选题背景：为什么要做振动监测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80644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旋转机械的常见故障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风机、水泵、电机等设备，故障多由转子不平衡、轴承磨损、地脚松动引起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这些故障在早期都会表现为振动与温度特征的变化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传统做法的问题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定期人工巡检：依赖经验，两次巡检之间的突发故障覆盖不到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事后维修：故障发生后才处理，停机损失与抢修工作量都大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状态监测的价值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在征兆出现的早期给出提示，把「事后维修」变成「预测性维护」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133856"/>
            <a:ext cx="51663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316736"/>
            <a:ext cx="4754880" cy="37490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本课题的约束条件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零焊接：全部选用已焊针的成品模块，杜邦线直插，不需要电烙铁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器件公开可得、资料齐全，可在两校复制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必须有两路以上有意义的数据输入，能区分不同故障</a:t>
            </a:r>
          </a:p>
          <a:p>
            <a:pPr>
              <a:spcAft>
                <a:spcPts val="900"/>
              </a:spcAft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数据与判定都在本地完成，断网时仍可用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需求规格：功能、非功能与验收标准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361188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361188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16736"/>
            <a:ext cx="3154680" cy="2834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11 条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功能需求 FR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振动采集与特征提取、温度监测、本地存储、联网上报、实时显示、历史查询、三级报警、维修建议、参数配置、断网续传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115568"/>
            <a:ext cx="361188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115568"/>
            <a:ext cx="3611880" cy="640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16736"/>
            <a:ext cx="3154680" cy="2834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9 条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非功能需求 NFR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零焊接装配、采样率 ≥ 1 kHz、无线上报、数据不丢失、可用性与可维护性、电气安全、可复制性等 9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3" y="1115568"/>
            <a:ext cx="361188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3" y="1115568"/>
            <a:ext cx="3611880" cy="6400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1316736"/>
            <a:ext cx="3154680" cy="2834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8A8A"/>
                </a:solidFill>
                <a:latin typeface="Microsoft YaHei"/>
                <a:ea typeface="Microsoft YaHei"/>
                <a:cs typeface="Microsoft YaHei"/>
              </a:rPr>
              <a:t>13 条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验收标准 AC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每条均可量化验证：采样率误差 ≤ 0.5%、静止模长 1.000 ± 0.2 g、报警响应 ≤ 10 s、断网零丢失等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62856"/>
            <a:ext cx="111556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截至中期：13 条验收标准中 11 条已完全达成，2 条在收尾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已达成的关键指标：采样率误差 −0.03%（判据 ≤ 0.5%）、报警响应 6 s（判据 ≤ 10 s）、断网补发 5/5 条零丢失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系统架构：三层结构，判定在边缘完成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9144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传感层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MPU6050（三轴加速度，I²C）＋ DS18B20（单总线温度）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85415"/>
            <a:ext cx="9144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85415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边缘层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ESP32：1 kSPS 采样 → FFT → 带限 RMS → 基线自学习 → 迟滞判定 → SD 本地存储 → MQTT 上报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36975"/>
            <a:ext cx="91440" cy="91440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5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F8A8A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Node-RED：MQTT broker ＋ 仪表板（实时/趋势/历史）＋ SQLite 持久化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79976"/>
            <a:ext cx="1115568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17136"/>
            <a:ext cx="106984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关键设计原则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所有特征提取与状态判定都在 ESP32 上完成，只上传特征值而不上传原始波形。一帧原始数据约 2 KB，特征报文只有约 180 字节，带宽降到不足十分之一；更重要的是采样与判定不依赖网络，断网时设备照常测量与判断。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关键选型：每个决策都有对比与理由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1115567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3123590"/>
                <a:gridCol w="2008022"/>
                <a:gridCol w="457382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备选方案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本方案选择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主要理由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振动传感器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压电式 / ADXL345 / 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I²C 接口简单、量程满足需求、有已焊针版本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温度传感器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NTC / 热电偶 / 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数字输出免标定、单总线、防水探头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计算位置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云端处理 / 边缘处理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边缘处理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带宽、延迟、离线可用、隐私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上报协议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/ 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轻量、QoS、发布订阅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数据存储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云数据库 / SQLite / SD 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＋ SD 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零配置、SD 卡保证断电不丢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88536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选型的共同原则：在满足需求的前提下，优先选「接口简单、资料丰富、易复现」的方案，并保证全程零焊接——所有模块买来就是焊好排针的，用杜邦线与面包板连接即可。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采样参数是怎么定下来的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采样率 fs = 1 kHz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分析带宽取 10 ~ 260 Hz；Nyquist 要求 ≥ 520 Hz，取 1 kHz 留约 4 倍余量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同时让 MPU6050 内部 DLPF（256 Hz）的过渡带落在有效带宽之外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帧长 N = 1024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Δf = fs / N = 0.977 Hz；帧长 1.024 s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帧再长 → 分辨率更高但报警迟钝；帧再短 → 1× 与相邻谐波分不开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实测转频 34 Hz，相邻谐波间隔也是 34 Hz，0.977 Hz 足以区分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③ 量程 ±4 g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0.7 g 配重实测峰值 3.2 g：取 ±2 g 会削顶，取 ±8 g 则分辨率减半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179575"/>
            <a:ext cx="5257800" cy="2697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252728"/>
            <a:ext cx="5038344" cy="25511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// 采样定时：绝对时刻对齐，误差不随时间累积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uint32_t next = micros();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for (uint16_t i = 0; i &lt; N; i++) {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while ((int32_t)(micros() - next) &lt; 0) { }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next += 1000;                 // 严格 1 ms 步进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mpu.getAcceleration(&amp;ax, &amp;ay, &amp;az);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// 实测：1024 点耗时 1023 ms → 999.7 Hz（−0.03 %）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059935"/>
            <a:ext cx="5257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为什么不用 delay(1)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delay() 每次都会叠加调度误差，累积 1024 次后可达数十毫秒；用 micros() 对齐绝对时刻，只等「该采的时刻」，累计误差不增长。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为什么必须带限计算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这是本项目在实现中修正的一个设计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80644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模块静止时，时域 RMS 仍有 0.05 g；按噪声密度推算应只有 0.006 g，相差约 10 倍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设备并非绝对静止——桌面因人员走动、建筑振动而轻微运动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这些 &lt; 10 Hz 的低频成分与「设备自身振动」是两回事，却被算进了 RMS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先 FFT，再在幅度谱上按 Parseval 定理只累加 10 ~ 260 Hz 的能量</a:t>
            </a:r>
          </a:p>
          <a:p>
            <a:pPr algn="l" lvl="1">
              <a:spcAft>
                <a:spcPts val="400"/>
              </a:spcAft>
            </a:pPr>
            <a:r>
              <a:rPr sz="12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静止读数 0.0053 g（与手册一致）；运转读数 0.0574 g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>
            <a:pPr algn="l" lvl="1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· 「看起来最朴素的 RMS」也必须先明确要统计什么频段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27048"/>
            <a:ext cx="5212080" cy="2926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00200"/>
            <a:ext cx="4992624" cy="2779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RMS_band = sqrt( Σ_{f∈[10,260]Hz} A_k² / 2 )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A_k：Hann 窗修正后的单边幅度谱峰值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Hann 窗相干增益 0.5 → 单边幅度需乘 2 修正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对比（模块静置）：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时域 RMS（全带）      0.050 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带限 RMS（10~260 Hz） 0.0053 g   ← 与手册一致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运转时带限 RMS        0.0574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36008"/>
            <a:ext cx="5212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对判定的影响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若用全带 RMS，噪声底被抬高，正常/注意/报警三档分不开；带限后静止与运转的区分度反而更高。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状态判定：自学习基线 + 迟滞 + 下限保护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为什么不用固定阈值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实测：同一台风扇在不同安装状态下，振动水平相差 3.7 倍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任何固定阈值都必然在某些场合误报或漏报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因此改为基线自学习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上电采 15 帧（约 16 s）→ 得 μ、σ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注意阈值 = μ + 3σ；报警阈值 = μ + 6σ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迟滞：升级需连续 3 帧确认，降级需 5 帧（约 6 s / 10 s）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下限保护（来自一次真实教训）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自学习时若风扇恰在停转，学到的 μ 仅 0.0053 g，推算阈值约 0.008 g → 一启动就误报</a:t>
            </a:r>
          </a:p>
          <a:p>
            <a:pPr algn="l" lvl="1">
              <a:spcAft>
                <a:spcPts val="300"/>
              </a:spcAft>
            </a:pPr>
            <a:r>
              <a:rPr sz="12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故规定：μ &lt; 0.010 g 时拒绝该基线，状态置 uncalibrated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71016"/>
          <a:ext cx="516635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908"/>
                <a:gridCol w="878281"/>
                <a:gridCol w="878281"/>
                <a:gridCol w="929944"/>
                <a:gridCol w="92994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自学习结果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注意阈值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报警阈值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第一次（固定较紧）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0.0526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0.0079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0.0763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0.1000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第二次（支撑偏软）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0.0942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0.0112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0.1279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0.1676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734056"/>
            <a:ext cx="5166360" cy="2468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自学习确实起了自适应作用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两次 μ 相差近 1.8 倍，阈值随之上移。若用固定阈值 0.100 g，第二场的正常运转就会被判为报警。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判定效果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加 0.35 g 配重后 RMS 1.47 g（报警阈值的 14.7 倍），0.70 g 时 2.68 g（26.8 倍），三档被干净分开，迟滞无抖动。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硬件实现：完整样机与装配方式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tup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32" y="1088136"/>
            <a:ext cx="3084894" cy="4114800"/>
          </a:xfrm>
          <a:prstGeom prst="rect">
            <a:avLst/>
          </a:prstGeom>
        </p:spPr>
      </p:pic>
      <p:pic>
        <p:nvPicPr>
          <p:cNvPr id="7" name="Picture 6" descr="mpu6050_mou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808748"/>
            <a:ext cx="3566160" cy="26735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66944"/>
            <a:ext cx="3566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整体装置：风机＋传感器＋主控＋面包板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5266944"/>
            <a:ext cx="3566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传感器安装：胶带刚性固定于风扇外框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33856"/>
            <a:ext cx="3749039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装配方式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全部模块选用已焊针版本，用杜邦线直插面包板连接，全程无焊接。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三个模块的位置与理由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MPU6050 贴在风扇外框边角：位于扇叶旋转圆之外不干涉，同时与外框保持刚性连接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DS18B20 探头置于进风面前方、电机轮毂边缘：对风量变化敏感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ESP32 与 SD 模块放在面包板一侧：避免杜邦线跨越扇叶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硬件接口与引脚分配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1"/>
                <a:gridCol w="1784908"/>
                <a:gridCol w="2454249"/>
                <a:gridCol w="2565806"/>
                <a:gridCol w="267736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信号线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速率 / 分辨率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I²C 400 kHz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SDA=21, SCL=22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ms / 8192 LSB/g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 0x68（AD0 悬空）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1-Wire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DQ=5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s / 0.0625 ℃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板载 4.7 kΩ 上拉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microSD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19 / 23 / 13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每帧一行 CSV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VCC 必须 5 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1883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Wi-Fi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s / 约 180 B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QoS 1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916935"/>
            <a:ext cx="512064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接口设计要点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三组接口互不冲突：I²C 占 21/22，单总线占 5，SPI 占 18/19/23/13。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SD 模块的 VCC 必须接 5 V：板载稳压芯片压差不足，接 3.3 V 时模块不工作（这是实测踩到的坑）。</a:t>
            </a:r>
          </a:p>
        </p:txBody>
      </p:sp>
      <p:pic>
        <p:nvPicPr>
          <p:cNvPr id="8" name="Picture 7" descr="figS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095" y="2825496"/>
            <a:ext cx="431712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固件结构与三个可靠性机制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主循环结构：先测量，后联网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每轮先完成采样 → FFT → 特征 → 判定，存入环形缓冲，再处理网络</a:t>
            </a:r>
          </a:p>
          <a:p>
            <a:pPr algn="l" lvl="1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即使 MQTT 重连阻塞数秒，也不会漏掉本周期的采样点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916935"/>
          <a:ext cx="1115567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465"/>
                <a:gridCol w="5131612"/>
                <a:gridCol w="412760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环形缓冲 + 补发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条环形缓冲（约 2 min），恢复后按序补发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网络中断期间数据不丢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NTP 时间戳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报文 ts 取测量时刻，不取发送时刻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补发数据仍落在正确的时间位置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本地记录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每帧追加一行并 flush；报警瞬间另存 1024 点波形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掉电最多丢 1 条；报警可事后做频谱诊断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基线下限保护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自学习 μ &lt; 0.010 g 时拒绝基线，置 uncalibrated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停机时学到错误基线导致误报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11496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四个机制互相独立：任一环节失效时系统降级而不断链——例如 SD 卡故障只关闭本地记录，联网上报不受影响。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实现中解决的三个技术问题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73152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① I²C 在 1 kHz 采样下偶发丢帧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现象：连续采样 100 帧，偶有无效帧，数据不连续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定位：1 ms 周期内读 14 字节（含温度）超出 I²C 时间开销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处理：I²C 提至 400 kHz，且只读 6 字节加速度（温度另开 2 s 周期）→ 丢帧率降到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70048"/>
            <a:ext cx="73152" cy="137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② arduinoFFT 2.0.4 的 API 与 1.x 教程不同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现象：照抄 1.x 写法直接编译失败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原因：2.x 改为模板类 ArduinoFFT&lt;T&gt;，方法名全小写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处理：ArduinoFFT&lt;double&gt; FFT(...)；windowing(FFTWindow::Hann, FFTDirection::Forward)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73152" cy="1371600"/>
          </a:xfrm>
          <a:prstGeom prst="rect">
            <a:avLst/>
          </a:prstGeom>
          <a:solidFill>
            <a:srgbClr val="37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③ 库对 WHO_AM_I 做了归一化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现象：getDeviceID() 返回 0x34 而非手册的 0x68，疑似假芯片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原因：该库取 &gt;&gt;1 后的低 6 位，寄存器原值确为 0x68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处理：自检程序同时读 0x75 原始值与库返回值，两者都核对 → 确认原厂器件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服务端与仪表板：现场报警的实际效果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3_dashboard_live_al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5108"/>
            <a:ext cx="6858000" cy="3580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66944"/>
            <a:ext cx="6858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加入 0.35 g 配重后的仪表板实况（真实截图）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133856"/>
            <a:ext cx="411480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仪表板实现的功能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实时：振动 RMS、被测体表面温度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三级状态：正常 / 注意 / 报警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维修建议：按状态给出处理建议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趋势：最近 1 小时 RMS 曲线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历史：SQLite 查询与曲线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服务端分工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aedes 提供 MQTT broker；Node-RED 订阅后分三路：仪表板控件、SQLite 入库、日志文件。服务端不做判定——判定在设备端完成。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传感器标定与验证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54"/>
                <a:gridCol w="1450238"/>
                <a:gridCol w="3346703"/>
                <a:gridCol w="3123590"/>
                <a:gridCol w="23426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器件身份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直读 0x75 寄存器原始值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0x68（库归一化返回 0x34）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原厂器件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重力模长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静止读三轴合成模长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 ~ 1.002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 ≤ 0.9 %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 点 × 多帧，带限 RMS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与推算同量级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采样率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实测帧时长反算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999.7 Hz（−0.03 %）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优于判据 16 倍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静置 90 s，连续读数 53 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极差 0.25 ℃，噪声 &lt; 1 LSB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成段恒定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响应性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手指握持探头 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+3.25 ℃，τ ≈ 25~30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一阶热响应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松开后 100 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−4.50 ℃，无迟滞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34256"/>
            <a:ext cx="111556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温度响应曲线的设计含义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 4 秒升温量依次为 +0.81、+0.56、+0.50、+0.38、+0.31、+0.25、+0.19 ℃，速率单调递减 → 典型一阶响应，τ ≈ 25~30 s。结论：温度报警必须设分钟级确认延时，不能照搬振动通道的秒级迟滞，否则手碰一下探头就会误报。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故障实验一：转子不平衡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单片扇叶贴蓝丁胶配重，距轴心约 35 mm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58064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30"/>
                <a:gridCol w="929030"/>
                <a:gridCol w="1567738"/>
                <a:gridCol w="1509674"/>
                <a:gridCol w="8709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配重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峰值频率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基准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0.0574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32.2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轻微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1.4723 g（+25.7 倍）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1.6605 g（+56.9 倍）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明显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2.6816 g（+46.7 倍）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2.8015 g（+95.9 倍）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31.2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852928"/>
            <a:ext cx="580644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灵敏度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0.35 g 仅占转子质量（约 90 g）的 0.4 %，却使 RMS 上升 25.7 倍、1× 峰值上升 56.9 倍。基准工况的带内 RMS 已是噪声底的约 10 倍，加配重后拉大到约 270 倍，轻微劣化也在可检测范围内。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亚线性与共振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配重加倍只带来 1.82 倍响应。用 F = m·r·ω² 校核：0.35 g 在 35 mm、32 Hz 下约 0.49 N，对应刚体加速度 0.56 g，而实测峰值 1.66 g，放大倍数 Q ≈ 3.7 —— 系统工作在共振区附近，响应被阻尼压制。</a:t>
            </a:r>
          </a:p>
        </p:txBody>
      </p:sp>
      <p:pic>
        <p:nvPicPr>
          <p:cNvPr id="9" name="Picture 8" descr="spectr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66238"/>
            <a:ext cx="5257800" cy="19278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故障实验二：风道堵塞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硬纸板遮挡进风面，每组稳定 5 min 后采集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1004011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011"/>
                <a:gridCol w="1004011"/>
                <a:gridCol w="2231136"/>
                <a:gridCol w="2231136"/>
                <a:gridCol w="2342692"/>
                <a:gridCol w="122712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表面温度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转频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正常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24.05 ℃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0.0867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0.0773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中度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24.67 ℃（+0.62）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0.0589 g（−32 %）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0.0487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34.2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重度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24.85 ℃（+0.80）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0.0605 g（−30 %）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0.0242 g（−69 %）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90088"/>
            <a:ext cx="534924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振动反而下降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风扇振动包含机械与气动两部分。堵塞使风量减少、气动激励减弱，总振动随之下降；同时电机负载增大导致转速下降（34.5 → 31.5 Hz），散热变差导致温度上升。</a:t>
            </a:r>
          </a:p>
          <a:p>
            <a:pPr algn="l">
              <a:spcAft>
                <a:spcPts val="400"/>
              </a:spcAft>
            </a:pPr>
            <a:r>
              <a:rPr sz="14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单以 RMS 作判据不可靠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RMS 在 50 % 与 80 % 之间几乎不变（0.0589 与 0.0605），不随堵塞程度单调变化。真正单调的是温度、1× 峰值与转频三项。</a:t>
            </a:r>
          </a:p>
        </p:txBody>
      </p:sp>
      <p:pic>
        <p:nvPicPr>
          <p:cNvPr id="9" name="Picture 8" descr="blockage_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29" y="2990088"/>
            <a:ext cx="41469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关键技术发现：支撑刚度的影响达 3.7 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78992"/>
          <a:ext cx="11155676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1"/>
                <a:gridCol w="2454249"/>
                <a:gridCol w="2008022"/>
                <a:gridCol w="1673351"/>
                <a:gridCol w="334670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 /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固定良好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0.042 ~ 0.062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0.0556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1.0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能量集中在 1× 附近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风扇晃动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 ~ 0.079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0.1966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额外能量分布在非 1× 频段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551176"/>
            <a:ext cx="54864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同一台风扇、同一转速，RMS 出现 0.055 g 与 0.207 g 两种水平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第一次判断（错误）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按压传感器模块 → RMS 降 57 %，以为胶带松了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重新粘贴后反而升到 0.207 g —— 按压时手指同时给整个结构加了阻尼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第二次判断（正确）</a:t>
            </a:r>
          </a:p>
          <a:p>
            <a:pPr algn="l" lvl="1"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改为按压风扇底座 → RMS 降到 0.0556 g（−73 %）</a:t>
            </a:r>
          </a:p>
          <a:p>
            <a:pPr algn="l" lvl="1">
              <a:spcAft>
                <a:spcPts val="300"/>
              </a:spcAft>
            </a:pPr>
            <a:r>
              <a:rPr sz="11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结论：不是传感器松了，而是风扇整体在桌面上跳动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551176"/>
            <a:ext cx="544068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可用的在线判别指标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把「1× 峰值 / 带内 RMS」作为辅助诊断量：比值 ≈ 1.0 表示能量集中在转频、测量可信；显著小于 1 说明叠加了刚体运动，当前数据不可用于判故障。</a:t>
            </a:r>
          </a:p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支撑刚度的影响（3.7 倍）远大于传感器粘接质量。根本原因是传感器无法区分「设备自身的结构振动」与「设备整体的刚体运动」——这也是工业标准要求振动测量必须相对于刚性基础进行的原因。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方法论：怀疑某个因素时，应设计只改变该因素的实验；若两个变量同时被改变，即便结果符合预期也不能作为证据。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进度对照与下一步工作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8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08"/>
                <a:gridCol w="1561795"/>
                <a:gridCol w="2008022"/>
                <a:gridCol w="5800953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原计划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实际状态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需求与方案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2–3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提案与需求规格、实施方案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硬件搭建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4–5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三模块全部接入并验证（零焊接）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固件开发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6–8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个固件，含 FFT、判定、存储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9–10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 全链路 + 仪表板 + 数据库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测试与实验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11 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已完成主要部分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不平衡三级、堵塞三级、温度标定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报告与答辩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12 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进行中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报告已完稿，答辩材料修订中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42816"/>
            <a:ext cx="54864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整体进度约提前 2 周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系统已可完整运行并现场演示，剩余工作集中在报告与细节打磨。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242816"/>
            <a:ext cx="54406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下一步工作（按优先级）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1. 复合判据写入固件：温度升 + 振动降 → 气动故障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2. 连续运行 24 h 统计误报率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3. 温度绝对标定（冰水混合物 0 ℃）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4. 补充电流通道，覆盖题目要求的三类量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6974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"/>
            <a:ext cx="8412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现场演示方案（答辩当天）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475488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33856"/>
            <a:ext cx="6766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打开仪表板，显示「正常」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预期：RMS 表盘 0.05~0.09 g、温度约 24 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225296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475488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02536"/>
            <a:ext cx="6766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确认串口已打印基线 μ、σ 与两个阈值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预期：检查点：自学习未完成不得进入下一步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93976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成员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79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79"/>
            <a:ext cx="475488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71215"/>
            <a:ext cx="6766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关闭风扇，单片扇叶贴 0.35 g 蓝丁胶，重新上电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预期：约 6 s 后表盘变红、状态「报警」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62656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成员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59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94759"/>
            <a:ext cx="475488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9896"/>
            <a:ext cx="6766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切到历史页，查看 SQLite 记录中的阶跃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预期：曲线出现由 0.06 到 1.47 g 的阶跃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31335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63440"/>
            <a:ext cx="475488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475488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08576"/>
            <a:ext cx="67665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断开笔记本 Wi-Fi 30 s 后恢复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预期：串口显示缓冲 5 条并全部补发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00016"/>
            <a:ext cx="35661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68696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失败备用：① 风扇不转——先查供电与接线，1 min 内不能解决则切录屏；② 配重甩飞——立即断电，换 0.35 g 重压；③ 服务端无响应——重启 node-red，2 min 未恢复则改为串口 + SD 卡日志的降级演示，并声明这是降级。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系统已完整可跑，两类故障可分，四人分工已定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383280"/>
            <a:ext cx="6858000" cy="15240"/>
          </a:xfrm>
          <a:prstGeom prst="rect">
            <a:avLst/>
          </a:prstGeom>
          <a:solidFill>
            <a:srgbClr val="BF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11880"/>
            <a:ext cx="10058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项目仓库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github.com/Zichuan-ALT/vibration-monitor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代码、原始数据、实验记录与证据照片均已归档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5780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小组成员：成员 A ／ 成员 B ／ 成员 C ／ 成员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